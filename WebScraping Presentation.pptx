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8" r:id="rId3"/>
    <p:sldId id="351" r:id="rId4"/>
    <p:sldId id="260" r:id="rId5"/>
    <p:sldId id="347" r:id="rId6"/>
    <p:sldId id="261" r:id="rId7"/>
    <p:sldId id="262" r:id="rId8"/>
    <p:sldId id="348" r:id="rId9"/>
    <p:sldId id="263" r:id="rId10"/>
    <p:sldId id="286" r:id="rId11"/>
    <p:sldId id="287" r:id="rId12"/>
    <p:sldId id="264" r:id="rId13"/>
    <p:sldId id="314" r:id="rId14"/>
    <p:sldId id="288" r:id="rId15"/>
    <p:sldId id="289" r:id="rId16"/>
    <p:sldId id="291" r:id="rId17"/>
    <p:sldId id="292" r:id="rId18"/>
    <p:sldId id="293" r:id="rId19"/>
    <p:sldId id="294" r:id="rId20"/>
    <p:sldId id="295" r:id="rId21"/>
    <p:sldId id="349" r:id="rId22"/>
    <p:sldId id="296" r:id="rId23"/>
    <p:sldId id="297" r:id="rId24"/>
    <p:sldId id="298" r:id="rId25"/>
    <p:sldId id="299" r:id="rId26"/>
    <p:sldId id="265" r:id="rId27"/>
    <p:sldId id="350" r:id="rId28"/>
    <p:sldId id="266" r:id="rId29"/>
    <p:sldId id="300" r:id="rId30"/>
    <p:sldId id="301" r:id="rId31"/>
    <p:sldId id="315" r:id="rId32"/>
    <p:sldId id="316" r:id="rId33"/>
    <p:sldId id="302" r:id="rId34"/>
    <p:sldId id="303" r:id="rId35"/>
    <p:sldId id="304" r:id="rId36"/>
    <p:sldId id="305" r:id="rId37"/>
    <p:sldId id="306" r:id="rId38"/>
    <p:sldId id="317" r:id="rId39"/>
    <p:sldId id="318" r:id="rId40"/>
    <p:sldId id="268" r:id="rId41"/>
    <p:sldId id="307" r:id="rId42"/>
    <p:sldId id="319" r:id="rId43"/>
    <p:sldId id="320" r:id="rId44"/>
    <p:sldId id="321" r:id="rId45"/>
    <p:sldId id="308" r:id="rId46"/>
    <p:sldId id="322" r:id="rId47"/>
    <p:sldId id="323" r:id="rId48"/>
    <p:sldId id="324" r:id="rId49"/>
    <p:sldId id="325" r:id="rId50"/>
    <p:sldId id="326" r:id="rId51"/>
    <p:sldId id="327" r:id="rId52"/>
    <p:sldId id="310" r:id="rId53"/>
    <p:sldId id="328" r:id="rId54"/>
    <p:sldId id="329" r:id="rId55"/>
    <p:sldId id="330" r:id="rId56"/>
    <p:sldId id="311" r:id="rId57"/>
    <p:sldId id="331" r:id="rId58"/>
    <p:sldId id="332" r:id="rId59"/>
    <p:sldId id="333" r:id="rId60"/>
    <p:sldId id="312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271" r:id="rId70"/>
    <p:sldId id="313" r:id="rId71"/>
    <p:sldId id="342" r:id="rId72"/>
    <p:sldId id="343" r:id="rId73"/>
    <p:sldId id="344" r:id="rId74"/>
    <p:sldId id="345" r:id="rId75"/>
    <p:sldId id="346" r:id="rId76"/>
    <p:sldId id="272" r:id="rId77"/>
    <p:sldId id="273" r:id="rId78"/>
    <p:sldId id="274" r:id="rId79"/>
    <p:sldId id="259" r:id="rId80"/>
  </p:sldIdLst>
  <p:sldSz cx="12192000" cy="6858000"/>
  <p:notesSz cx="6858000" cy="9144000"/>
  <p:embeddedFontLst>
    <p:embeddedFont>
      <p:font typeface="Libre Baskerville" panose="02000000000000000000" pitchFamily="2" charset="0"/>
      <p:regular r:id="rId82"/>
      <p:bold r:id="rId83"/>
      <p:italic r:id="rId8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8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customschemas.google.com/relationships/presentationmetadata" Target="meta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32758" y="2448560"/>
            <a:ext cx="724618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Internshala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Internship Data Analysis </a:t>
            </a:r>
          </a:p>
          <a:p>
            <a:pPr lvl="0"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(Web Scraping and Exploratory Data Analysis)</a:t>
            </a:r>
            <a:endParaRPr lang="en-IN"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F2DD0-F61C-B4A1-FA88-D60C4F8A7A45}"/>
              </a:ext>
            </a:extLst>
          </p:cNvPr>
          <p:cNvSpPr txBox="1"/>
          <p:nvPr/>
        </p:nvSpPr>
        <p:spPr>
          <a:xfrm>
            <a:off x="859999" y="4858871"/>
            <a:ext cx="2945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Presented By:</a:t>
            </a:r>
          </a:p>
          <a:p>
            <a:r>
              <a:rPr lang="en-IN" sz="2400" b="1" dirty="0">
                <a:solidFill>
                  <a:schemeClr val="tx1"/>
                </a:solidFill>
              </a:rPr>
              <a:t>Arjun Naluvala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349624" y="941876"/>
            <a:ext cx="10806033" cy="569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30810">
              <a:buSzPct val="100000"/>
              <a:buNone/>
            </a:pP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4B25DD-6584-55EE-2DDE-48D588B96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9624" y="777298"/>
            <a:ext cx="1163441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3200" b="1" dirty="0"/>
              <a:t>INTRODUCTION</a:t>
            </a:r>
            <a:br>
              <a:rPr lang="en-IN" sz="3200" b="1" dirty="0"/>
            </a:b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today’s digital world, data plays a crucial role in decision-making and trend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collecting real-time internship data from the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Internshala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platform using web scraping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the data is not available in a structured format, web scraping is used to extract relevant information from the website.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collected data is then cleaned, processed, and analyzed using Python libraries.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B58D60-43BF-4798-6D84-023DD99A896E}"/>
              </a:ext>
            </a:extLst>
          </p:cNvPr>
          <p:cNvSpPr txBox="1"/>
          <p:nvPr/>
        </p:nvSpPr>
        <p:spPr>
          <a:xfrm>
            <a:off x="797858" y="1096253"/>
            <a:ext cx="105962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 is performed to identify patterns, trends, and insights related to internships such as stipend, location, and duration.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the end-to-end data analysis process, from data collection to visualization and insights generation.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4078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C4B6-BC14-4A24-E43D-9B866E3BF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62F16-76BD-1094-A62A-12D1AD964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collecting real-time internship data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Internshala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web scraping techniques and performing Exploratory Data Analysis (EDA) to identify patterns, trends, and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not pre-downloaded; it is dynamically created using web scraping and then converted into a structured format for analysis.</a:t>
            </a:r>
            <a:endParaRPr lang="en-US" sz="3200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54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B5BEEF-06D6-E94F-14BF-6F02B727E0FF}"/>
              </a:ext>
            </a:extLst>
          </p:cNvPr>
          <p:cNvSpPr txBox="1"/>
          <p:nvPr/>
        </p:nvSpPr>
        <p:spPr>
          <a:xfrm>
            <a:off x="995082" y="818637"/>
            <a:ext cx="897367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just">
              <a:buNone/>
            </a:pPr>
            <a:r>
              <a:rPr lang="en-IN" sz="3200" b="1" dirty="0"/>
              <a:t>Flow diagram:</a:t>
            </a:r>
          </a:p>
          <a:p>
            <a:pPr marL="114300" indent="0" algn="just">
              <a:buNone/>
            </a:pPr>
            <a:endParaRPr lang="en-IN" sz="2800" b="1" dirty="0"/>
          </a:p>
          <a:p>
            <a:pPr marL="114300" indent="0" algn="just">
              <a:buNone/>
            </a:pPr>
            <a:r>
              <a:rPr lang="en-IN" sz="2800" dirty="0"/>
              <a:t>Website → Scraping → Dataset → Analysis → Insights</a:t>
            </a:r>
          </a:p>
        </p:txBody>
      </p:sp>
    </p:spTree>
    <p:extLst>
      <p:ext uri="{BB962C8B-B14F-4D97-AF65-F5344CB8AC3E}">
        <p14:creationId xmlns:p14="http://schemas.microsoft.com/office/powerpoint/2010/main" val="82534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5D-7E0C-4F87-2D58-8D5D8E84F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161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IN" sz="3200" b="1" dirty="0"/>
              <a:t>OBJECTIVE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1E23B3-47B5-6B11-1993-5A69176FD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225047"/>
            <a:ext cx="989893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real-time internship data from a website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convert unstructured data into structured format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clean and preprocess the dataset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perform Exploratory Data Analysis (EDA)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trends in internships such as stipend, roles, and locations </a:t>
            </a:r>
          </a:p>
        </p:txBody>
      </p:sp>
    </p:spTree>
    <p:extLst>
      <p:ext uri="{BB962C8B-B14F-4D97-AF65-F5344CB8AC3E}">
        <p14:creationId xmlns:p14="http://schemas.microsoft.com/office/powerpoint/2010/main" val="31641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3502-D163-8960-9AB5-B9E9521B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971" y="33823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DATA SOURCE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024639-BA2A-A7D9-C02A-248B67E74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476" y="1479118"/>
            <a:ext cx="901281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The data for this project is collected from the </a:t>
            </a:r>
            <a:r>
              <a:rPr lang="en-US" dirty="0" err="1"/>
              <a:t>Internshala</a:t>
            </a:r>
            <a:r>
              <a:rPr lang="en-US" dirty="0"/>
              <a:t> website</a:t>
            </a: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which is a popular platform for internship opportunities in India.    </a:t>
            </a:r>
          </a:p>
          <a:p>
            <a:pPr marL="8001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Website: https://internshala.com/internships </a:t>
            </a: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The website does not provide a direct option to download data in a structured format such as CSV or Excel. </a:t>
            </a: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Therefore, web scraping is used to extract the required information from the website’s HTML structure.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91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3BA042-6500-4429-6A8A-9CA49DBEB75C}"/>
              </a:ext>
            </a:extLst>
          </p:cNvPr>
          <p:cNvSpPr txBox="1"/>
          <p:nvPr/>
        </p:nvSpPr>
        <p:spPr>
          <a:xfrm>
            <a:off x="770965" y="852897"/>
            <a:ext cx="10210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The website does not provide a direct option to download data in a structured format such as CSV or Excel. 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Therefore, web scraping is used to extract the required information from the website’s HTML structure. 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The dataset includes details such as internship title, company name, </a:t>
            </a:r>
            <a:r>
              <a:rPr lang="en-IN" sz="2800" dirty="0"/>
              <a:t>location, stipend, and duration.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308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A39C-8E2E-BD82-F6A0-A7981DF4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52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TOOLS AND 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E71377-2064-0E24-AFEF-135FCEE7D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234475"/>
            <a:ext cx="807955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(for sending HTTP requests)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parsing HTML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(for data manipulation)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 (for visualization)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(for delay handling) </a:t>
            </a:r>
          </a:p>
        </p:txBody>
      </p:sp>
    </p:spTree>
    <p:extLst>
      <p:ext uri="{BB962C8B-B14F-4D97-AF65-F5344CB8AC3E}">
        <p14:creationId xmlns:p14="http://schemas.microsoft.com/office/powerpoint/2010/main" val="1413382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4AD4-88FB-A0D4-7958-ABB5B256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40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Importing Required Libraries</a:t>
            </a:r>
            <a:endParaRPr lang="en-IN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59FF3-7004-AFA1-5A50-58CBC0B12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32566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/>
              <a:t>To perform web scraping and data analysis, several Python libraries are used: </a:t>
            </a:r>
          </a:p>
          <a:p>
            <a:r>
              <a:rPr lang="en-US" dirty="0"/>
              <a:t>The requests library is used to send HTTP requests and fetch the webpage content 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BeautifulSoup</a:t>
            </a:r>
            <a:r>
              <a:rPr lang="en-US" dirty="0"/>
              <a:t> library is used to parse and extract data from HTML </a:t>
            </a:r>
          </a:p>
          <a:p>
            <a:r>
              <a:rPr lang="en-US" dirty="0"/>
              <a:t>The pandas library is used for data manipulation and analysis </a:t>
            </a:r>
          </a:p>
          <a:p>
            <a:r>
              <a:rPr lang="en-US" dirty="0"/>
              <a:t>The </a:t>
            </a:r>
            <a:r>
              <a:rPr lang="en-US" dirty="0" err="1"/>
              <a:t>numpy</a:t>
            </a:r>
            <a:r>
              <a:rPr lang="en-US" dirty="0"/>
              <a:t> library is used for numerical operations </a:t>
            </a:r>
          </a:p>
          <a:p>
            <a:r>
              <a:rPr lang="en-US" dirty="0"/>
              <a:t>The matplotlib and seaborn libraries are used for data visualization </a:t>
            </a:r>
          </a:p>
          <a:p>
            <a:r>
              <a:rPr lang="en-US" dirty="0"/>
              <a:t>These libraries form the foundation for both data collection and analysis in this project.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11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3C26-CB85-8120-26AE-E84FEBF0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What is Web Scraping</a:t>
            </a:r>
            <a:endParaRPr lang="en-IN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7055A-10CA-79D7-FF9E-295F4FCE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5777" y="1502895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Web scraping is a technique used to extract data from websites. </a:t>
            </a:r>
          </a:p>
          <a:p>
            <a:pPr algn="just"/>
            <a:r>
              <a:rPr lang="en-US" dirty="0"/>
              <a:t>It involves sending requests to a webpage, retrieving its HTML content, and then extracting relevant information from that content. </a:t>
            </a:r>
          </a:p>
          <a:p>
            <a:pPr algn="just"/>
            <a:r>
              <a:rPr lang="en-US" dirty="0"/>
              <a:t>Web scraping is particularly useful when data is not available in a structured format or cannot be directly downloaded. By converting raw HTML data into a structured dataset, it enables further analysis and insights. </a:t>
            </a:r>
          </a:p>
          <a:p>
            <a:pPr algn="just"/>
            <a:r>
              <a:rPr lang="en-US" dirty="0"/>
              <a:t>In this project, web scraping is used to collect internship data </a:t>
            </a:r>
            <a:r>
              <a:rPr lang="en-IN" dirty="0"/>
              <a:t>from the </a:t>
            </a:r>
            <a:r>
              <a:rPr lang="en-IN" dirty="0" err="1"/>
              <a:t>Internshala</a:t>
            </a:r>
            <a:r>
              <a:rPr lang="en-IN" dirty="0"/>
              <a:t> website.</a:t>
            </a:r>
          </a:p>
        </p:txBody>
      </p:sp>
    </p:spTree>
    <p:extLst>
      <p:ext uri="{BB962C8B-B14F-4D97-AF65-F5344CB8AC3E}">
        <p14:creationId xmlns:p14="http://schemas.microsoft.com/office/powerpoint/2010/main" val="400764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85C0-4C27-8B52-2667-A1A2DD29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529" y="43684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WEB SCRAPING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2ACC4F-DE7C-3F54-321D-58FAEB4F2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3870" y="1492725"/>
            <a:ext cx="865459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 request to website using Requests library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 HTML content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required tags and classes </a:t>
            </a:r>
          </a:p>
        </p:txBody>
      </p:sp>
    </p:spTree>
    <p:extLst>
      <p:ext uri="{BB962C8B-B14F-4D97-AF65-F5344CB8AC3E}">
        <p14:creationId xmlns:p14="http://schemas.microsoft.com/office/powerpoint/2010/main" val="339038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00B6-C4BB-3C6C-41BA-D66A6AA6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793" y="38266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  <a:latin typeface="Arial" panose="020B0604020202020204" pitchFamily="34" charset="0"/>
              </a:rPr>
              <a:t>Extract data such as</a:t>
            </a:r>
            <a:endParaRPr lang="en-IN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181D5-2D00-E9BE-1DC0-2149CA28F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322" y="1523968"/>
            <a:ext cx="10515600" cy="4351338"/>
          </a:xfrm>
        </p:spPr>
        <p:txBody>
          <a:bodyPr/>
          <a:lstStyle/>
          <a:p>
            <a:r>
              <a:rPr lang="en-US" dirty="0"/>
              <a:t>location — does city affect stipend?</a:t>
            </a:r>
          </a:p>
          <a:p>
            <a:r>
              <a:rPr lang="en-US" dirty="0"/>
              <a:t>Duration months </a:t>
            </a:r>
          </a:p>
          <a:p>
            <a:r>
              <a:rPr lang="en-US" dirty="0"/>
              <a:t>Skills required </a:t>
            </a:r>
          </a:p>
          <a:p>
            <a:pPr algn="just"/>
            <a:r>
              <a:rPr lang="en-US" dirty="0"/>
              <a:t>Actively hiring </a:t>
            </a:r>
          </a:p>
          <a:p>
            <a:pPr algn="just"/>
            <a:r>
              <a:rPr lang="en-US" dirty="0"/>
              <a:t>Internship title </a:t>
            </a:r>
          </a:p>
          <a:p>
            <a:r>
              <a:rPr lang="en-US" dirty="0"/>
              <a:t>Company name </a:t>
            </a:r>
          </a:p>
          <a:p>
            <a:r>
              <a:rPr lang="en-US" dirty="0"/>
              <a:t>Posted time 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Repeat process for multiple pages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610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A78D-ECAF-8DB9-5F6C-0A430E61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88" y="358914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Understanding HTML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CF8EF-AF92-EC78-069B-548947C8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496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Webpages are built using HTML, which consists of nested elements such as tags, classes, and attributes. </a:t>
            </a:r>
          </a:p>
          <a:p>
            <a:r>
              <a:rPr lang="en-US" dirty="0"/>
              <a:t>Each internship listing on the </a:t>
            </a:r>
            <a:r>
              <a:rPr lang="en-US" dirty="0" err="1"/>
              <a:t>Internshala</a:t>
            </a:r>
            <a:r>
              <a:rPr lang="en-US" dirty="0"/>
              <a:t> website is contained within a specific HTML structure. </a:t>
            </a:r>
          </a:p>
          <a:p>
            <a:r>
              <a:rPr lang="en-US" dirty="0"/>
              <a:t>By inspecting the webpage, we identify that each internship is stored inside a container (div tag) with a specific class name.</a:t>
            </a:r>
          </a:p>
          <a:p>
            <a:r>
              <a:rPr lang="en-US" dirty="0"/>
              <a:t> Understanding this structure is essential because it helps in accurately locating and extracting the required data fields.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681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D901-A600-AA7C-707F-B591655B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94" y="35616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Parsing HTML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4B6D4-E6EF-A1E5-48A6-7CC9A1D2A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94" y="1467037"/>
            <a:ext cx="10515600" cy="4351338"/>
          </a:xfrm>
        </p:spPr>
        <p:txBody>
          <a:bodyPr/>
          <a:lstStyle/>
          <a:p>
            <a:r>
              <a:rPr lang="en-US" dirty="0"/>
              <a:t>After retrieving the HTML content, it needs to be parsed to extract meaningful information. </a:t>
            </a:r>
          </a:p>
          <a:p>
            <a:r>
              <a:rPr lang="en-US" dirty="0"/>
              <a:t>The </a:t>
            </a:r>
            <a:r>
              <a:rPr lang="en-US" dirty="0" err="1"/>
              <a:t>BeautifulSoup</a:t>
            </a:r>
            <a:r>
              <a:rPr lang="en-US" dirty="0"/>
              <a:t> library is used to parse the HTML content and convert it into a structured format that can be easily navigated. </a:t>
            </a:r>
          </a:p>
          <a:p>
            <a:r>
              <a:rPr lang="en-US" dirty="0"/>
              <a:t>It allows us to search for specific tags and classes and extract the required data. </a:t>
            </a:r>
          </a:p>
          <a:p>
            <a:r>
              <a:rPr lang="en-US" dirty="0"/>
              <a:t>This step simplifies the process of locating internship details within the webpage.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7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F398-278C-6C92-B827-718434B5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Extracting Internship Cards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CCC9F-FE0F-8453-98AD-B140A948C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953" y="15382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Once the HTML is parsed, the next step is to extract all internship listings. </a:t>
            </a:r>
          </a:p>
          <a:p>
            <a:r>
              <a:rPr lang="en-US" dirty="0"/>
              <a:t>Each internship is identified using a specific HTML tag and class. </a:t>
            </a:r>
          </a:p>
          <a:p>
            <a:r>
              <a:rPr lang="en-US" dirty="0"/>
              <a:t>In this project, all internship cards are extracted using the div tag with the class name corresponding to individual internship listings.</a:t>
            </a:r>
          </a:p>
          <a:p>
            <a:r>
              <a:rPr lang="en-US" dirty="0"/>
              <a:t>Each extracted card contains complete information about one internship, including title, company, location, stipend, and duration.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66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EC2F-D3AF-92E7-B325-720C56FE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Extracting Internship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7D93F-25ED-CA7D-5B93-0915F1878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186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After identifying the internship cards, the next step is to extract specific details from each card. </a:t>
            </a:r>
          </a:p>
          <a:p>
            <a:r>
              <a:rPr lang="en-US" dirty="0"/>
              <a:t>The internship title is one of the most important fields. Using </a:t>
            </a:r>
            <a:r>
              <a:rPr lang="en-US" dirty="0" err="1"/>
              <a:t>BeautifulSoup</a:t>
            </a:r>
            <a:r>
              <a:rPr lang="en-US" dirty="0"/>
              <a:t>, the title is extracted by locating the appropriate HTML tag within each internship card. </a:t>
            </a:r>
          </a:p>
          <a:p>
            <a:r>
              <a:rPr lang="en-US" dirty="0"/>
              <a:t>The .find() method is used to locate the tag, and .</a:t>
            </a:r>
            <a:r>
              <a:rPr lang="en-US" dirty="0" err="1"/>
              <a:t>text.strip</a:t>
            </a:r>
            <a:r>
              <a:rPr lang="en-US" dirty="0"/>
              <a:t>() is used to clean and extract the text. </a:t>
            </a:r>
          </a:p>
          <a:p>
            <a:r>
              <a:rPr lang="en-US" dirty="0"/>
              <a:t>This ensures that the title is stored in a clean and readable format for further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782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A9A7-B7B7-2303-6A97-4914A68C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41" y="34719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Extracting Company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CE3E0-1526-7079-1188-4B244DE9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4741" y="1422213"/>
            <a:ext cx="10515600" cy="4351338"/>
          </a:xfrm>
        </p:spPr>
        <p:txBody>
          <a:bodyPr/>
          <a:lstStyle/>
          <a:p>
            <a:r>
              <a:rPr lang="en-US" dirty="0"/>
              <a:t>The company name is another key attribute that is extracted from each internship card. </a:t>
            </a:r>
          </a:p>
          <a:p>
            <a:r>
              <a:rPr lang="en-US" dirty="0"/>
              <a:t>Similar to the title extraction, the company name is located using specific HTML tags and class names. </a:t>
            </a:r>
          </a:p>
          <a:p>
            <a:r>
              <a:rPr lang="en-US" dirty="0"/>
              <a:t>The extracted text is cleaned to remove extra spaces or unwanted characters. </a:t>
            </a:r>
          </a:p>
          <a:p>
            <a:r>
              <a:rPr lang="en-US" dirty="0"/>
              <a:t>This field helps in analyzing which companies are actively offering internships.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737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2633-7EB4-9964-C8DB-363E3F3B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Extracting 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39F5E-1FFD-C283-E048-50D0311A8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8073"/>
            <a:ext cx="10515600" cy="4351338"/>
          </a:xfrm>
        </p:spPr>
        <p:txBody>
          <a:bodyPr/>
          <a:lstStyle/>
          <a:p>
            <a:r>
              <a:rPr lang="en-US" dirty="0"/>
              <a:t>The location of the internship is extracted from each listing. </a:t>
            </a:r>
          </a:p>
          <a:p>
            <a:r>
              <a:rPr lang="en-US" dirty="0"/>
              <a:t>In some cases, internships may have multiple locations or remote options. </a:t>
            </a:r>
          </a:p>
          <a:p>
            <a:r>
              <a:rPr lang="en-US" dirty="0"/>
              <a:t>The extraction is done by identifying the relevant HTML elements and collecting the location text. </a:t>
            </a:r>
          </a:p>
          <a:p>
            <a:r>
              <a:rPr lang="en-US" dirty="0"/>
              <a:t>Special care is taken to handle cases where the location field might be missing or structured differently. </a:t>
            </a:r>
          </a:p>
          <a:p>
            <a:r>
              <a:rPr lang="en-US" dirty="0"/>
              <a:t>This field is important for analyzing geographical trends in internship opportunities.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2992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A3AE-5C73-6E5B-6A6C-75D6F213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Extracting Stipend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0A465-FC4D-A1B2-2F84-4A06A9935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953" y="1476001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/>
              <a:t>The stipend information is extracted as text from each internship listing. </a:t>
            </a:r>
          </a:p>
          <a:p>
            <a:r>
              <a:rPr lang="en-US" dirty="0"/>
              <a:t>However, the stipend values are not always in a clean numerical format. </a:t>
            </a:r>
          </a:p>
          <a:p>
            <a:r>
              <a:rPr lang="en-US" dirty="0"/>
              <a:t>They may include symbols, ranges, or text descriptions. </a:t>
            </a:r>
          </a:p>
          <a:p>
            <a:r>
              <a:rPr lang="en-US" dirty="0"/>
              <a:t>Therefore, the extracted stipend data requires further cleaning before it can be used for analysis. </a:t>
            </a:r>
          </a:p>
        </p:txBody>
      </p:sp>
    </p:spTree>
    <p:extLst>
      <p:ext uri="{BB962C8B-B14F-4D97-AF65-F5344CB8AC3E}">
        <p14:creationId xmlns:p14="http://schemas.microsoft.com/office/powerpoint/2010/main" val="1191552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F64C1B-EE01-4CB9-8284-462D8619074D}"/>
              </a:ext>
            </a:extLst>
          </p:cNvPr>
          <p:cNvSpPr txBox="1"/>
          <p:nvPr/>
        </p:nvSpPr>
        <p:spPr>
          <a:xfrm>
            <a:off x="699248" y="800272"/>
            <a:ext cx="103721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However, the stipend values are not always in a clean numerical format.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They may include symbols, ranges, or text descriptions.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Therefore, the extracted stipend data requires further cleaning before it can be used for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field plays a crucial role in understanding compensation trends.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44587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0503-796F-331A-59D8-48CFCC48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47" y="33201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Extracting Duration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39E9F-E2A0-F568-C769-9E94D3CC1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847" y="1413249"/>
            <a:ext cx="10515600" cy="4351338"/>
          </a:xfrm>
        </p:spPr>
        <p:txBody>
          <a:bodyPr/>
          <a:lstStyle/>
          <a:p>
            <a:r>
              <a:rPr lang="en-US" dirty="0"/>
              <a:t>The duration of the internship is extracted from the details section of each listing. </a:t>
            </a:r>
          </a:p>
          <a:p>
            <a:r>
              <a:rPr lang="en-US" dirty="0"/>
              <a:t>This information helps in understanding how long internships typically last and whether duration has any impact on stipend. </a:t>
            </a:r>
          </a:p>
          <a:p>
            <a:r>
              <a:rPr lang="en-US" dirty="0"/>
              <a:t>The extracted duration values are stored as text and later used in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022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264F-CBD9-501F-0F47-79409A95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47" y="385808"/>
            <a:ext cx="10515600" cy="1325563"/>
          </a:xfrm>
        </p:spPr>
        <p:txBody>
          <a:bodyPr>
            <a:normAutofit/>
          </a:bodyPr>
          <a:lstStyle/>
          <a:p>
            <a:r>
              <a:rPr lang="nn-NO" sz="3200" b="1" dirty="0"/>
              <a:t>Handling Missing Data During Scraping</a:t>
            </a:r>
            <a:endParaRPr lang="en-IN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2FDD2-A6A4-DFD7-4B1D-5B5DC3B4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847" y="145807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While scraping data, not all internship listings contain complete information. </a:t>
            </a:r>
          </a:p>
          <a:p>
            <a:r>
              <a:rPr lang="en-US" dirty="0"/>
              <a:t>Some fields may be missing or structured differently. </a:t>
            </a:r>
          </a:p>
          <a:p>
            <a:r>
              <a:rPr lang="en-US" dirty="0"/>
              <a:t>To handle this, conditional checks such as if-else statements are used before extracting data. </a:t>
            </a:r>
          </a:p>
          <a:p>
            <a:r>
              <a:rPr lang="en-US" dirty="0"/>
              <a:t>This ensures that the program does not crash and missing values are handled properly. </a:t>
            </a:r>
          </a:p>
          <a:p>
            <a:r>
              <a:rPr lang="en-US" dirty="0"/>
              <a:t>This step is important for maintaining consistency in the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692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CD04-3AA6-0FE0-ED34-2D2DA323A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11" y="39201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Storing Extracted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BDB1C-5F77-D22B-5154-E1766D083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811" y="1520826"/>
            <a:ext cx="10515600" cy="4351338"/>
          </a:xfrm>
        </p:spPr>
        <p:txBody>
          <a:bodyPr/>
          <a:lstStyle/>
          <a:p>
            <a:r>
              <a:rPr lang="en-US" dirty="0"/>
              <a:t>After extracting all required fields, the data is stored in lists for each attribute such as title, company, location, stipend, and duration.</a:t>
            </a:r>
          </a:p>
          <a:p>
            <a:r>
              <a:rPr lang="en-US" dirty="0"/>
              <a:t> These lists are then combined into a dictionary and converted into a pandas </a:t>
            </a:r>
            <a:r>
              <a:rPr lang="en-US" dirty="0" err="1"/>
              <a:t>DataFrame</a:t>
            </a:r>
            <a:r>
              <a:rPr lang="en-US" dirty="0"/>
              <a:t>. </a:t>
            </a:r>
          </a:p>
          <a:p>
            <a:r>
              <a:rPr lang="en-US" dirty="0"/>
              <a:t>This structured format makes it easier to perform further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261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B884-6F7A-8D87-4491-598CD25C5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Scraping Multiple Pages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C34B-8142-17E1-679A-998B052FA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953" y="1431178"/>
            <a:ext cx="10515600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Internshala</a:t>
            </a:r>
            <a:r>
              <a:rPr lang="en-US" dirty="0"/>
              <a:t> website contains multiple pages of internship listings. </a:t>
            </a:r>
          </a:p>
          <a:p>
            <a:r>
              <a:rPr lang="en-US" dirty="0"/>
              <a:t>To collect a larger dataset, a loop is used to iterate through multiple pages by modifying the URL dynamically. </a:t>
            </a:r>
          </a:p>
          <a:p>
            <a:r>
              <a:rPr lang="en-US" dirty="0"/>
              <a:t>Data from each page is extracted and appended to the dataset.</a:t>
            </a:r>
          </a:p>
          <a:p>
            <a:r>
              <a:rPr lang="en-US" dirty="0"/>
              <a:t>This ensures that the dataset is comprehensive and not limited to a single page.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527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99D3-18B7-320D-866F-DC0E9C43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DATASET CREATION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0D7CD2-4830-619C-1425-69A752C8C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027906"/>
            <a:ext cx="8870622" cy="4362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endParaRPr lang="en-US" sz="1800" dirty="0"/>
          </a:p>
          <a:p>
            <a:r>
              <a:rPr lang="en-US" dirty="0"/>
              <a:t>After collecting data from multiple pages, all the extracted information is combined into a single dataset. </a:t>
            </a:r>
          </a:p>
          <a:p>
            <a:r>
              <a:rPr lang="en-US" dirty="0"/>
              <a:t>The dataset is then reviewed to ensure correctness and completeness. </a:t>
            </a:r>
          </a:p>
          <a:p>
            <a:r>
              <a:rPr lang="en-US" dirty="0"/>
              <a:t>At this stage, the raw dataset is ready for further cleaning and analysis.</a:t>
            </a:r>
          </a:p>
          <a:p>
            <a:r>
              <a:rPr lang="en-US" dirty="0"/>
              <a:t>The scraped data is stored in lists and then converted into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143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B55BED-4535-CA44-94ED-13CCF9B4E50E}"/>
              </a:ext>
            </a:extLst>
          </p:cNvPr>
          <p:cNvSpPr txBox="1"/>
          <p:nvPr/>
        </p:nvSpPr>
        <p:spPr>
          <a:xfrm>
            <a:off x="905434" y="689789"/>
            <a:ext cx="10452847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Final dataset contains</a:t>
            </a:r>
          </a:p>
          <a:p>
            <a:endParaRPr lang="en-US" sz="3200" b="1" dirty="0"/>
          </a:p>
          <a:p>
            <a:r>
              <a:rPr lang="en-US" sz="2800" dirty="0"/>
              <a:t>Multiple rows (internships) </a:t>
            </a:r>
          </a:p>
          <a:p>
            <a:r>
              <a:rPr lang="en-US" sz="2800" dirty="0"/>
              <a:t>Multiple columns (features like title, company, stipend, etc.) </a:t>
            </a:r>
          </a:p>
          <a:p>
            <a:r>
              <a:rPr lang="en-US" sz="2800" dirty="0"/>
              <a:t>The dataset is then saved as a CSV file.</a:t>
            </a:r>
          </a:p>
        </p:txBody>
      </p:sp>
    </p:spTree>
    <p:extLst>
      <p:ext uri="{BB962C8B-B14F-4D97-AF65-F5344CB8AC3E}">
        <p14:creationId xmlns:p14="http://schemas.microsoft.com/office/powerpoint/2010/main" val="3856781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2FB3-8A0A-68ED-D5B9-A53CB65F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4" y="41891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DATASET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889E8-44C3-19BF-B825-67AC180F4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614" y="1505113"/>
            <a:ext cx="10515600" cy="4351338"/>
          </a:xfrm>
        </p:spPr>
        <p:txBody>
          <a:bodyPr/>
          <a:lstStyle/>
          <a:p>
            <a:r>
              <a:rPr lang="en-US" dirty="0"/>
              <a:t>Columns in dataset include:</a:t>
            </a:r>
          </a:p>
          <a:p>
            <a:r>
              <a:rPr lang="en-US" dirty="0"/>
              <a:t>Internship Title </a:t>
            </a:r>
          </a:p>
          <a:p>
            <a:r>
              <a:rPr lang="en-US" dirty="0"/>
              <a:t>Company Name </a:t>
            </a:r>
          </a:p>
          <a:p>
            <a:r>
              <a:rPr lang="en-US" dirty="0"/>
              <a:t>Location </a:t>
            </a:r>
          </a:p>
          <a:p>
            <a:r>
              <a:rPr lang="en-US" dirty="0"/>
              <a:t>Stipend </a:t>
            </a:r>
          </a:p>
          <a:p>
            <a:r>
              <a:rPr lang="en-US" dirty="0"/>
              <a:t>Duration </a:t>
            </a:r>
          </a:p>
          <a:p>
            <a:r>
              <a:rPr lang="en-US" dirty="0"/>
              <a:t>Start Date </a:t>
            </a:r>
          </a:p>
          <a:p>
            <a:r>
              <a:rPr lang="en-US" dirty="0"/>
              <a:t>Apply Link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266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29D4-9DBD-94EC-4321-4F92B8B2F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896" y="441873"/>
            <a:ext cx="10335705" cy="5309811"/>
          </a:xfrm>
        </p:spPr>
        <p:txBody>
          <a:bodyPr>
            <a:normAutofit/>
          </a:bodyPr>
          <a:lstStyle/>
          <a:p>
            <a:r>
              <a:rPr lang="en-IN" sz="3200" b="1" dirty="0"/>
              <a:t>EDA SECTION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B1F27-FC55-F57E-02B3-A05A1F3F2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5896" y="2576944"/>
            <a:ext cx="2433449" cy="960583"/>
          </a:xfrm>
        </p:spPr>
        <p:txBody>
          <a:bodyPr>
            <a:normAutofit fontScale="25000" lnSpcReduction="20000"/>
          </a:bodyPr>
          <a:lstStyle/>
          <a:p>
            <a:pPr marL="114300" indent="0" algn="ctr">
              <a:buNone/>
            </a:pPr>
            <a:r>
              <a:rPr lang="en-IN" dirty="0"/>
              <a:t>																					</a:t>
            </a:r>
          </a:p>
        </p:txBody>
      </p:sp>
    </p:spTree>
    <p:extLst>
      <p:ext uri="{BB962C8B-B14F-4D97-AF65-F5344CB8AC3E}">
        <p14:creationId xmlns:p14="http://schemas.microsoft.com/office/powerpoint/2010/main" val="1040127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C730-E331-B148-E110-9574B6F2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Loading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8D202-B447-99EA-15B4-554C2B9B4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929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dataset is loaded into a pandas </a:t>
            </a:r>
            <a:r>
              <a:rPr lang="en-US" dirty="0" err="1"/>
              <a:t>DataFrame</a:t>
            </a:r>
            <a:r>
              <a:rPr lang="en-US" dirty="0"/>
              <a:t> for analysis. </a:t>
            </a:r>
          </a:p>
          <a:p>
            <a:r>
              <a:rPr lang="en-US" dirty="0"/>
              <a:t>The .head() function is used to preview the first five rows of the dataset. </a:t>
            </a:r>
          </a:p>
          <a:p>
            <a:r>
              <a:rPr lang="en-US" dirty="0"/>
              <a:t>This helps in verifying that the data has been correctly scraped and stored.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576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0361AC-391E-D347-047E-8CCE56E46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999812"/>
              </p:ext>
            </p:extLst>
          </p:nvPr>
        </p:nvGraphicFramePr>
        <p:xfrm>
          <a:off x="741575" y="845575"/>
          <a:ext cx="10708850" cy="5745623"/>
        </p:xfrm>
        <a:graphic>
          <a:graphicData uri="http://schemas.openxmlformats.org/drawingml/2006/table">
            <a:tbl>
              <a:tblPr/>
              <a:tblGrid>
                <a:gridCol w="1070885">
                  <a:extLst>
                    <a:ext uri="{9D8B030D-6E8A-4147-A177-3AD203B41FA5}">
                      <a16:colId xmlns:a16="http://schemas.microsoft.com/office/drawing/2014/main" val="3783200610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3032923002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1986105922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829289478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1214778209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1719827683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588891753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363227305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1128311890"/>
                    </a:ext>
                  </a:extLst>
                </a:gridCol>
                <a:gridCol w="1070885">
                  <a:extLst>
                    <a:ext uri="{9D8B030D-6E8A-4147-A177-3AD203B41FA5}">
                      <a16:colId xmlns:a16="http://schemas.microsoft.com/office/drawing/2014/main" val="3038872106"/>
                    </a:ext>
                  </a:extLst>
                </a:gridCol>
              </a:tblGrid>
              <a:tr h="37930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900">
                        <a:effectLst/>
                      </a:endParaRP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internship_title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company_name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location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stipend_per_month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duration_months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actively_hiring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skills_required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posted_time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is_it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458501"/>
                  </a:ext>
                </a:extLst>
              </a:tr>
              <a:tr h="101017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0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Recruitment Consultant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 dirty="0">
                          <a:effectLst/>
                        </a:rPr>
                        <a:t>P&amp;M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Gurgaon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₹ 8,000 - 10,000 /month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6 Months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True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900">
                          <a:effectLst/>
                        </a:rPr>
                        <a:t>Client Relationship, English Proficiency (Spok...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NaN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False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758727"/>
                  </a:ext>
                </a:extLst>
              </a:tr>
              <a:tr h="116789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 dirty="0">
                          <a:effectLst/>
                        </a:rPr>
                        <a:t>1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Inside Sales Intern – E-Commerce (Seller Onboa...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HiWi Forex Services Limited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Mumbai ...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₹ 5,000 - 5,001 /month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3 Months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True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Interpersonal skills, Effective Communication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Few hours ago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False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569073"/>
                  </a:ext>
                </a:extLst>
              </a:tr>
              <a:tr h="101017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2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Video Editing/Making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Orvador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Mohali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₹ 8,000 - 10,000 /month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3 Weeks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True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900">
                          <a:effectLst/>
                        </a:rPr>
                        <a:t>Adobe Photoshop, Adobe Illustrator, Video Edit...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Today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False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814182"/>
                  </a:ext>
                </a:extLst>
              </a:tr>
              <a:tr h="116789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3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Sales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RUCHIRA SINGH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Bangalore ...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₹ 10,000 - 20,000 /month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3 Months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True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Client Interaction, Decision making, Client Re...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1 day ago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False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49253"/>
                  </a:ext>
                </a:extLst>
              </a:tr>
              <a:tr h="101017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4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Architecture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Node Urban Lab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Lucknow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₹ 8,000 /month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6 Months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True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AutoCAD, Adobe Photoshop, Adobe Illustrator, G...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>
                          <a:effectLst/>
                        </a:rPr>
                        <a:t>2 days ago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900" dirty="0">
                          <a:effectLst/>
                        </a:rPr>
                        <a:t>False</a:t>
                      </a:r>
                    </a:p>
                  </a:txBody>
                  <a:tcPr marL="55549" marR="55549" marT="27774" marB="277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446958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7B7F9BB5-F337-074A-049F-92269C0EC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575" y="266803"/>
            <a:ext cx="10515600" cy="1021223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preview of first 5 rows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892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8E961-2FD6-71E9-5049-B0A32CD0D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900459"/>
              </p:ext>
            </p:extLst>
          </p:nvPr>
        </p:nvGraphicFramePr>
        <p:xfrm>
          <a:off x="599769" y="1061885"/>
          <a:ext cx="10864649" cy="5388076"/>
        </p:xfrm>
        <a:graphic>
          <a:graphicData uri="http://schemas.openxmlformats.org/drawingml/2006/table">
            <a:tbl>
              <a:tblPr/>
              <a:tblGrid>
                <a:gridCol w="1086465">
                  <a:extLst>
                    <a:ext uri="{9D8B030D-6E8A-4147-A177-3AD203B41FA5}">
                      <a16:colId xmlns:a16="http://schemas.microsoft.com/office/drawing/2014/main" val="3237359502"/>
                    </a:ext>
                  </a:extLst>
                </a:gridCol>
                <a:gridCol w="1086465">
                  <a:extLst>
                    <a:ext uri="{9D8B030D-6E8A-4147-A177-3AD203B41FA5}">
                      <a16:colId xmlns:a16="http://schemas.microsoft.com/office/drawing/2014/main" val="3231437589"/>
                    </a:ext>
                  </a:extLst>
                </a:gridCol>
                <a:gridCol w="1086465">
                  <a:extLst>
                    <a:ext uri="{9D8B030D-6E8A-4147-A177-3AD203B41FA5}">
                      <a16:colId xmlns:a16="http://schemas.microsoft.com/office/drawing/2014/main" val="979872588"/>
                    </a:ext>
                  </a:extLst>
                </a:gridCol>
                <a:gridCol w="1086465">
                  <a:extLst>
                    <a:ext uri="{9D8B030D-6E8A-4147-A177-3AD203B41FA5}">
                      <a16:colId xmlns:a16="http://schemas.microsoft.com/office/drawing/2014/main" val="2380338849"/>
                    </a:ext>
                  </a:extLst>
                </a:gridCol>
                <a:gridCol w="1050031">
                  <a:extLst>
                    <a:ext uri="{9D8B030D-6E8A-4147-A177-3AD203B41FA5}">
                      <a16:colId xmlns:a16="http://schemas.microsoft.com/office/drawing/2014/main" val="569921766"/>
                    </a:ext>
                  </a:extLst>
                </a:gridCol>
                <a:gridCol w="1122898">
                  <a:extLst>
                    <a:ext uri="{9D8B030D-6E8A-4147-A177-3AD203B41FA5}">
                      <a16:colId xmlns:a16="http://schemas.microsoft.com/office/drawing/2014/main" val="1171361658"/>
                    </a:ext>
                  </a:extLst>
                </a:gridCol>
                <a:gridCol w="1086465">
                  <a:extLst>
                    <a:ext uri="{9D8B030D-6E8A-4147-A177-3AD203B41FA5}">
                      <a16:colId xmlns:a16="http://schemas.microsoft.com/office/drawing/2014/main" val="3127329029"/>
                    </a:ext>
                  </a:extLst>
                </a:gridCol>
                <a:gridCol w="1086465">
                  <a:extLst>
                    <a:ext uri="{9D8B030D-6E8A-4147-A177-3AD203B41FA5}">
                      <a16:colId xmlns:a16="http://schemas.microsoft.com/office/drawing/2014/main" val="1246993144"/>
                    </a:ext>
                  </a:extLst>
                </a:gridCol>
                <a:gridCol w="1086465">
                  <a:extLst>
                    <a:ext uri="{9D8B030D-6E8A-4147-A177-3AD203B41FA5}">
                      <a16:colId xmlns:a16="http://schemas.microsoft.com/office/drawing/2014/main" val="524929519"/>
                    </a:ext>
                  </a:extLst>
                </a:gridCol>
                <a:gridCol w="1086465">
                  <a:extLst>
                    <a:ext uri="{9D8B030D-6E8A-4147-A177-3AD203B41FA5}">
                      <a16:colId xmlns:a16="http://schemas.microsoft.com/office/drawing/2014/main" val="1892973743"/>
                    </a:ext>
                  </a:extLst>
                </a:gridCol>
              </a:tblGrid>
              <a:tr h="3568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800">
                        <a:effectLst/>
                      </a:endParaRP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internship_title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company_name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location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stipend_per_month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duration_months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actively_hiring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skills_required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posted_time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is_it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243031"/>
                  </a:ext>
                </a:extLst>
              </a:tr>
              <a:tr h="10947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effectLst/>
                        </a:rPr>
                        <a:t>5205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800">
                          <a:effectLst/>
                        </a:rPr>
                        <a:t>Sales Operations – Data Cleansing &amp; Enrichment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Tvarana Software Solutions Private Limited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effectLst/>
                        </a:rPr>
                        <a:t>Hyderabad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₹ 15,000 - 16,000 /month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effectLst/>
                        </a:rPr>
                        <a:t>6 Months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True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800">
                          <a:effectLst/>
                        </a:rPr>
                        <a:t>MS-Office, Data Analytics, MS-Excel, Data Clea...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NaN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True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926785"/>
                  </a:ext>
                </a:extLst>
              </a:tr>
              <a:tr h="79962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5206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Product Operations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Health Click Away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Gurgaon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₹ 10,000 - 15,000 /month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3 Months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True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Analytical Thinking, Effective Communication, ...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NaN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False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22048"/>
                  </a:ext>
                </a:extLst>
              </a:tr>
              <a:tr h="94720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5207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IT &amp; Web Development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K NET KING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Jaipur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₹ 3,000 - 5,000 /month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6 Months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False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800">
                          <a:effectLst/>
                        </a:rPr>
                        <a:t>JavaScript, Project Management, Web developmen...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NaN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True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487819"/>
                  </a:ext>
                </a:extLst>
              </a:tr>
              <a:tr h="124236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5208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WordPress Development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Foonix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Work from home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₹ 5,000 - 10,000 /month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6 Months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True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800">
                          <a:effectLst/>
                        </a:rPr>
                        <a:t>PHP, HTML, CSS, JavaScript, WordPress, Search ...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NaN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False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213012"/>
                  </a:ext>
                </a:extLst>
              </a:tr>
              <a:tr h="94720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5209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Instagram Growth Manager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KaroStartup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Work from home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₹ 13,000 - 20,000 /month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3 Months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True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800">
                          <a:effectLst/>
                        </a:rPr>
                        <a:t>Creative Thinking, Creative Writing, Entrepren...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NaN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effectLst/>
                        </a:rPr>
                        <a:t>False</a:t>
                      </a:r>
                    </a:p>
                  </a:txBody>
                  <a:tcPr marL="50992" marR="50992" marT="25496" marB="254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04635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5B59B5F-5CCF-118A-0C5F-2616EA41C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1776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E9CF16-5C66-9F55-5B88-B963D1C6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494560"/>
            <a:ext cx="10515600" cy="814746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Preview of last 5 rows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74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F5D7-FDFD-9F28-A423-4B8146E1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Understanding Dataset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BEE41-4AD8-C875-D3E2-EFEC3F5D7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83" y="1341531"/>
            <a:ext cx="10515600" cy="4351338"/>
          </a:xfrm>
        </p:spPr>
        <p:txBody>
          <a:bodyPr/>
          <a:lstStyle/>
          <a:p>
            <a:r>
              <a:rPr lang="en-US" dirty="0"/>
              <a:t>To understand the structure of the dataset, functions such as .shape and .columns are used. </a:t>
            </a:r>
          </a:p>
          <a:p>
            <a:r>
              <a:rPr lang="en-US" dirty="0"/>
              <a:t>The .shape function provides the number of rows and columns, while .columns lists all column names. </a:t>
            </a:r>
          </a:p>
          <a:p>
            <a:r>
              <a:rPr lang="en-US" dirty="0"/>
              <a:t>Each row represents a unique internship entry.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84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5BBEA-8790-C66B-CF2D-CB4F63E9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Checking 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EC47-7141-1E65-6706-CA126CA50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918" y="1467037"/>
            <a:ext cx="10515600" cy="4351338"/>
          </a:xfrm>
        </p:spPr>
        <p:txBody>
          <a:bodyPr/>
          <a:lstStyle/>
          <a:p>
            <a:r>
              <a:rPr lang="en-US" dirty="0"/>
              <a:t>The .info() function is used to check the data types of each column.</a:t>
            </a:r>
          </a:p>
          <a:p>
            <a:r>
              <a:rPr lang="en-US" dirty="0"/>
              <a:t>This step helps identify whether the data is stored in the correct format and highlights any missing values. </a:t>
            </a:r>
          </a:p>
          <a:p>
            <a:r>
              <a:rPr lang="en-US" dirty="0"/>
              <a:t>It is an important step before performing data cleaning.</a:t>
            </a:r>
          </a:p>
        </p:txBody>
      </p:sp>
    </p:spTree>
    <p:extLst>
      <p:ext uri="{BB962C8B-B14F-4D97-AF65-F5344CB8AC3E}">
        <p14:creationId xmlns:p14="http://schemas.microsoft.com/office/powerpoint/2010/main" val="637454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79497-53DB-E974-95E4-81D399AF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1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Handling Missing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8F0-5816-6549-4166-D88A6F002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812" y="1458072"/>
            <a:ext cx="10515600" cy="4351338"/>
          </a:xfrm>
        </p:spPr>
        <p:txBody>
          <a:bodyPr/>
          <a:lstStyle/>
          <a:p>
            <a:r>
              <a:rPr lang="en-US" dirty="0"/>
              <a:t>Missing values are identified using functions such as .</a:t>
            </a:r>
            <a:r>
              <a:rPr lang="en-US" dirty="0" err="1"/>
              <a:t>isnull</a:t>
            </a:r>
            <a:r>
              <a:rPr lang="en-US" dirty="0"/>
              <a:t>().</a:t>
            </a:r>
          </a:p>
          <a:p>
            <a:r>
              <a:rPr lang="en-US" dirty="0"/>
              <a:t>Depending on the situation, missing values are either removed or handled appropriately. </a:t>
            </a:r>
          </a:p>
          <a:p>
            <a:r>
              <a:rPr lang="en-US" dirty="0"/>
              <a:t>This ensures that the dataset is clean and </a:t>
            </a:r>
            <a:r>
              <a:rPr lang="en-IN" dirty="0"/>
              <a:t>suitable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25695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3D1C-9B0C-99DB-69BE-78657C38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4737B-6EF7-299B-C96D-2089BCBAC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848" y="1458072"/>
            <a:ext cx="10515600" cy="4351338"/>
          </a:xfrm>
        </p:spPr>
        <p:txBody>
          <a:bodyPr/>
          <a:lstStyle/>
          <a:p>
            <a:r>
              <a:rPr lang="en-US" dirty="0"/>
              <a:t>The dataset often contains inconsistencies such as extra spaces, unwanted characters, and non-numeric values. </a:t>
            </a:r>
          </a:p>
          <a:p>
            <a:r>
              <a:rPr lang="en-US" dirty="0"/>
              <a:t>The stipend column is cleaned by removing text and extracting numeric values. </a:t>
            </a:r>
          </a:p>
          <a:p>
            <a:r>
              <a:rPr lang="en-US" dirty="0"/>
              <a:t>Other columns are also standardized to ensure consistency. </a:t>
            </a:r>
          </a:p>
          <a:p>
            <a:r>
              <a:rPr lang="en-US" dirty="0"/>
              <a:t>This step is essential for accurate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752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6863-58D5-C8C3-FB22-9044BE73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2FAE6-FB90-5DBC-ADCD-069D180BC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953" y="1484966"/>
            <a:ext cx="10515600" cy="4351338"/>
          </a:xfrm>
        </p:spPr>
        <p:txBody>
          <a:bodyPr/>
          <a:lstStyle/>
          <a:p>
            <a:r>
              <a:rPr lang="en-US" dirty="0"/>
              <a:t>New features are created to enhance the dataset. </a:t>
            </a:r>
          </a:p>
          <a:p>
            <a:r>
              <a:rPr lang="en-US" dirty="0"/>
              <a:t>For example, an average stipend column is created by processing stipend ranges. </a:t>
            </a:r>
          </a:p>
          <a:p>
            <a:r>
              <a:rPr lang="en-US" dirty="0"/>
              <a:t>This allows for better numerical analysis and comparisons. </a:t>
            </a:r>
          </a:p>
          <a:p>
            <a:r>
              <a:rPr lang="en-US" dirty="0"/>
              <a:t>Feature engineering improves the overall quality and usability of the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854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AFF-5342-A054-6DD2-D3A987F7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019"/>
            <a:ext cx="10515600" cy="1325563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sz="3200" b="1" dirty="0"/>
              <a:t>Outlier Detection &amp; Treatment</a:t>
            </a:r>
            <a:br>
              <a:rPr lang="en-IN" dirty="0"/>
            </a:b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7B67F5D-82E4-BE8C-1020-EF4CFA1B9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55" y="1162377"/>
            <a:ext cx="11444141" cy="510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5472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4C94AB-4900-6E19-23B8-05D8802B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406" y="1333081"/>
            <a:ext cx="10515600" cy="4191837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Why this plot was used</a:t>
            </a:r>
            <a:br>
              <a:rPr lang="en-US" sz="2000" dirty="0"/>
            </a:br>
            <a:r>
              <a:rPr lang="en-US" sz="3100" dirty="0"/>
              <a:t>Boxplots were used to identify extreme values in selected numerical variables.</a:t>
            </a:r>
            <a:br>
              <a:rPr lang="en-US" sz="2800" dirty="0"/>
            </a:br>
            <a:br>
              <a:rPr lang="en-US" sz="2000" dirty="0"/>
            </a:br>
            <a:r>
              <a:rPr lang="en-US" sz="3600" b="1" dirty="0"/>
              <a:t>Observations</a:t>
            </a:r>
            <a:br>
              <a:rPr lang="en-US" sz="2000" dirty="0"/>
            </a:br>
            <a:r>
              <a:rPr lang="en-US" sz="3100" dirty="0" err="1"/>
              <a:t>stipend_min</a:t>
            </a:r>
            <a:r>
              <a:rPr lang="en-US" sz="3100" dirty="0"/>
              <a:t> has outliers going up to ₹70,000 — way above normal range</a:t>
            </a:r>
            <a:br>
              <a:rPr lang="en-US" sz="3100" dirty="0"/>
            </a:br>
            <a:r>
              <a:rPr lang="en-US" sz="3100" dirty="0" err="1"/>
              <a:t>stipend_max</a:t>
            </a:r>
            <a:r>
              <a:rPr lang="en-US" sz="3100" dirty="0"/>
              <a:t> has outliers going up to ₹80,000 — even higher extreme values</a:t>
            </a:r>
            <a:br>
              <a:rPr lang="en-US" sz="3100" dirty="0"/>
            </a:br>
            <a:r>
              <a:rPr lang="en-US" sz="3100" dirty="0"/>
              <a:t>duration has outliers at 48, 96 and 144 weeks (1-3 years) — unrealistic for internships</a:t>
            </a:r>
            <a:br>
              <a:rPr lang="en-US" sz="3100" dirty="0"/>
            </a:br>
            <a:r>
              <a:rPr lang="en-US" sz="3100" dirty="0"/>
              <a:t>most data sits below ₹20,000 for stipend and below 24 weeks for duration</a:t>
            </a:r>
            <a:br>
              <a:rPr lang="en-US" sz="3100" dirty="0"/>
            </a:br>
            <a:r>
              <a:rPr lang="en-US" sz="3100" dirty="0"/>
              <a:t>IQR method will be used to remove these extreme values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3908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7C8B-5317-3F2A-6016-2344EABC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EXPLORATORY DATA ANALYSIS (EDA)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DDDCD-2FC0-65A7-E24B-1560F9C78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6354"/>
            <a:ext cx="10515600" cy="4351338"/>
          </a:xfrm>
        </p:spPr>
        <p:txBody>
          <a:bodyPr/>
          <a:lstStyle/>
          <a:p>
            <a:r>
              <a:rPr lang="en-US" dirty="0"/>
              <a:t>EDA is performed to understand the dataset and identify patterns.</a:t>
            </a:r>
          </a:p>
          <a:p>
            <a:r>
              <a:rPr lang="en-US" dirty="0"/>
              <a:t>Types of analysis:</a:t>
            </a:r>
          </a:p>
          <a:p>
            <a:r>
              <a:rPr lang="en-US" dirty="0"/>
              <a:t>Univariate Analysis </a:t>
            </a:r>
          </a:p>
          <a:p>
            <a:r>
              <a:rPr lang="en-US" dirty="0"/>
              <a:t>Bivariate Analysis </a:t>
            </a:r>
          </a:p>
          <a:p>
            <a:r>
              <a:rPr lang="en-US" dirty="0"/>
              <a:t>Visualization using graphs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242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DC3E-3629-46B8-86E1-2183D45C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Univariate Analysis – Stipend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907C8-582A-8B22-16D5-FE971A596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1178"/>
            <a:ext cx="10515600" cy="4351338"/>
          </a:xfrm>
        </p:spPr>
        <p:txBody>
          <a:bodyPr/>
          <a:lstStyle/>
          <a:p>
            <a:r>
              <a:rPr lang="en-US" dirty="0"/>
              <a:t>Univariate analysis is performed to study the distribution of stipend values. </a:t>
            </a:r>
          </a:p>
          <a:p>
            <a:r>
              <a:rPr lang="en-US" dirty="0"/>
              <a:t>A histogram is used to visualize how stipends are distributed across internships. </a:t>
            </a:r>
          </a:p>
          <a:p>
            <a:r>
              <a:rPr lang="en-US" dirty="0"/>
              <a:t>This helps identify common stipend ranges and outliers.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703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D99F308-1CDF-38E0-1F16-502F6B9B9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52" y="426563"/>
            <a:ext cx="11236750" cy="600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453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C63309-AAF2-81AA-F095-BEBB8C8C76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3060" y="1797345"/>
            <a:ext cx="10515600" cy="1734749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Why Histogram</a:t>
            </a:r>
            <a:br>
              <a:rPr lang="en-US" sz="3200" b="1" dirty="0"/>
            </a:br>
            <a:br>
              <a:rPr lang="en-US" sz="3100" b="1" dirty="0"/>
            </a:br>
            <a:r>
              <a:rPr lang="en-US" sz="3100" dirty="0" err="1"/>
              <a:t>Histogram</a:t>
            </a:r>
            <a:r>
              <a:rPr lang="en-US" sz="3100" dirty="0"/>
              <a:t> is used to show the frequency distribution of a continuous numerical variable. It helps understand how minimum stipend values are spread across all internships.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174517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1E26AD0-7FFE-CE39-A162-3A3717C05F53}"/>
              </a:ext>
            </a:extLst>
          </p:cNvPr>
          <p:cNvSpPr txBox="1"/>
          <p:nvPr/>
        </p:nvSpPr>
        <p:spPr>
          <a:xfrm>
            <a:off x="464271" y="854870"/>
            <a:ext cx="88117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Observations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major peaks at ₹5000 and ₹10000 — most common minimum stipend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internships offer minimum stipend between ₹5000 and ₹10000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internships offer above ₹15000 as minimum stipend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is not smooth, internships are posted at fixed round number stipends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70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84019-234A-34AB-7AC2-8B5DA055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Univariate Analysis – Duration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8A40C-E8D8-DE75-A311-9A35CF9C7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8755"/>
            <a:ext cx="10515600" cy="4351338"/>
          </a:xfrm>
        </p:spPr>
        <p:txBody>
          <a:bodyPr/>
          <a:lstStyle/>
          <a:p>
            <a:r>
              <a:rPr lang="en-US" dirty="0"/>
              <a:t>The duration of internships is analyzed to understand how long most internships last. </a:t>
            </a:r>
          </a:p>
          <a:p>
            <a:r>
              <a:rPr lang="en-US" dirty="0"/>
              <a:t>A count plot is used to show the frequency of different durations.</a:t>
            </a:r>
          </a:p>
          <a:p>
            <a:r>
              <a:rPr lang="en-US" dirty="0"/>
              <a:t> This helps identify the most common internship durations.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4249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99AE-0FC6-762B-1B82-BBFFA777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Top 10 Internship Titles by Count</a:t>
            </a:r>
            <a:br>
              <a:rPr lang="en-US" dirty="0"/>
            </a:br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B9961B6-04B3-FE56-EBAE-9D1F752C3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55" y="1142508"/>
            <a:ext cx="10879300" cy="495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7632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9B08-E48B-75BB-C631-06D16805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Why Bar Chart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4C0D2-23A1-B13A-B71B-F0E0A7FF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Bar chart is used to compare counts across different categories.</a:t>
            </a:r>
          </a:p>
          <a:p>
            <a:r>
              <a:rPr lang="en-US" dirty="0"/>
              <a:t>It helps identify which internship roles are most frequently posted on </a:t>
            </a:r>
            <a:r>
              <a:rPr lang="en-US" dirty="0" err="1"/>
              <a:t>Internshala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4262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8F12-A608-4BDF-9546-BF0E37D7C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56" y="681037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E1AC7-C7BB-F41F-3B4B-82373C011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456" y="134381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Development (Sales) is the most posted role by a large margin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Marketing, Content and Social Media Marketing roles dominate the top 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top 10 roles are Non-IT, confirming non-technical internships are more common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416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8FD3-4AE3-D495-2AB5-F5F62672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3" y="607172"/>
            <a:ext cx="10515600" cy="1325563"/>
          </a:xfrm>
        </p:spPr>
        <p:txBody>
          <a:bodyPr/>
          <a:lstStyle/>
          <a:p>
            <a:r>
              <a:rPr lang="en-US" sz="3200" b="1" dirty="0"/>
              <a:t>Pie Chart: IT vs Non-IT Distribution</a:t>
            </a:r>
            <a:br>
              <a:rPr lang="en-US" dirty="0"/>
            </a:br>
            <a:endParaRPr lang="en-IN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73A8516A-FF7E-DD05-CDD7-CB88CBFE1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556" y="1769559"/>
            <a:ext cx="4535679" cy="43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032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94CD-5426-98EB-AF39-56B633C6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47" y="681037"/>
            <a:ext cx="10515600" cy="1325563"/>
          </a:xfrm>
        </p:spPr>
        <p:txBody>
          <a:bodyPr/>
          <a:lstStyle/>
          <a:p>
            <a:r>
              <a:rPr lang="en-US" sz="3200" b="1" dirty="0"/>
              <a:t>Why Pie Chart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16356-17CC-0DDE-CD06-CD3F886F8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847" y="1493931"/>
            <a:ext cx="10515600" cy="4351338"/>
          </a:xfrm>
        </p:spPr>
        <p:txBody>
          <a:bodyPr/>
          <a:lstStyle/>
          <a:p>
            <a:r>
              <a:rPr lang="en-US" dirty="0"/>
              <a:t>Pie chart is used to show proportion of two or more categories in a whole.</a:t>
            </a:r>
          </a:p>
          <a:p>
            <a:r>
              <a:rPr lang="en-US" dirty="0"/>
              <a:t>It helps understand what percentage of internships are IT vs Non-IT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437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4652-298D-DBCA-136C-E54F4662A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12" y="786466"/>
            <a:ext cx="10515600" cy="1325563"/>
          </a:xfrm>
        </p:spPr>
        <p:txBody>
          <a:bodyPr/>
          <a:lstStyle/>
          <a:p>
            <a:r>
              <a:rPr lang="en-US" sz="3200" b="1" dirty="0"/>
              <a:t>Observations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F4215-A525-E884-AB0B-36CA4740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8402"/>
            <a:ext cx="10515600" cy="4351338"/>
          </a:xfrm>
        </p:spPr>
        <p:txBody>
          <a:bodyPr/>
          <a:lstStyle/>
          <a:p>
            <a:r>
              <a:rPr lang="en-US" dirty="0"/>
              <a:t>91.2% of internships are Non-IT — overwhelming majority</a:t>
            </a:r>
          </a:p>
          <a:p>
            <a:r>
              <a:rPr lang="en-US" dirty="0"/>
              <a:t>only 8.8% are IT internships</a:t>
            </a:r>
          </a:p>
          <a:p>
            <a:r>
              <a:rPr lang="en-US" dirty="0" err="1"/>
              <a:t>Internshala</a:t>
            </a:r>
            <a:r>
              <a:rPr lang="en-US" dirty="0"/>
              <a:t> is heavily dominated by sales, marketing and creative roles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958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9FFF-6582-424F-725B-15A21B55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Bivariate Analysis – Stipend vs 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65D38-EF59-7F97-CA94-8C4A0239C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847" y="1449108"/>
            <a:ext cx="10515600" cy="4351338"/>
          </a:xfrm>
        </p:spPr>
        <p:txBody>
          <a:bodyPr/>
          <a:lstStyle/>
          <a:p>
            <a:r>
              <a:rPr lang="en-US" dirty="0"/>
              <a:t>This analysis examines how stipend varies across different locations.</a:t>
            </a:r>
          </a:p>
          <a:p>
            <a:r>
              <a:rPr lang="en-US" dirty="0"/>
              <a:t>By comparing stipend values for different cities, we can identify which locations offer higher-paying internships.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8969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F8F170C-E064-2419-0822-A10C9A026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6" y="619125"/>
            <a:ext cx="10606648" cy="544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331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E8FF33-5EAE-5CC0-6B1F-1B1CFE496F98}"/>
              </a:ext>
            </a:extLst>
          </p:cNvPr>
          <p:cNvSpPr txBox="1"/>
          <p:nvPr/>
        </p:nvSpPr>
        <p:spPr>
          <a:xfrm>
            <a:off x="717176" y="961637"/>
            <a:ext cx="898263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Why Horizontal Bar Chart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Horizontal bar chart is used when category names are long — easier to read than vertical bars.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helps compare average minimum stipend across different locations.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26645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3B383E-77F2-6DD4-BBC6-AAFCA04C7E8D}"/>
              </a:ext>
            </a:extLst>
          </p:cNvPr>
          <p:cNvSpPr txBox="1"/>
          <p:nvPr/>
        </p:nvSpPr>
        <p:spPr>
          <a:xfrm>
            <a:off x="645459" y="817765"/>
            <a:ext cx="93053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Observations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top paying locations are mostly multi-city or specific area listings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Ambala, Gorakhpur combined listing pays highest average minimum stipend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single well known cities like Mumbai and Bangalore don't appear in top 10 alone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multi-city listings skew the location based stipend analysis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192744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5CF4-3D38-1893-EC9D-138FF14FD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Bivariate Analysis – Stipend vs Duration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399BC-1A95-5686-29A2-8E0A3122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7719"/>
            <a:ext cx="10515600" cy="4351338"/>
          </a:xfrm>
        </p:spPr>
        <p:txBody>
          <a:bodyPr/>
          <a:lstStyle/>
          <a:p>
            <a:r>
              <a:rPr lang="en-US" dirty="0"/>
              <a:t>This analysis explores the relationship between internship duration and stipend. </a:t>
            </a:r>
          </a:p>
          <a:p>
            <a:r>
              <a:rPr lang="en-US" dirty="0"/>
              <a:t>It helps determine whether longer internships tend to offer higher pay compared to shorter 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7843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61D134C-930D-D866-E97B-CB3C5D5E6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18" y="665069"/>
            <a:ext cx="10776976" cy="546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8452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86CCC-EBCB-86A1-1BB6-C79B03CA3E29}"/>
              </a:ext>
            </a:extLst>
          </p:cNvPr>
          <p:cNvSpPr txBox="1"/>
          <p:nvPr/>
        </p:nvSpPr>
        <p:spPr>
          <a:xfrm>
            <a:off x="717177" y="905232"/>
            <a:ext cx="833717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Why Scatter Plot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Scatter plot is used to show relationship between two continuous numerical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 helps understand if longer internships tend to pay more.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238980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9E5AD9-9A66-1A54-BEEB-57DFED7E01F0}"/>
              </a:ext>
            </a:extLst>
          </p:cNvPr>
          <p:cNvSpPr txBox="1"/>
          <p:nvPr/>
        </p:nvSpPr>
        <p:spPr>
          <a:xfrm>
            <a:off x="923364" y="800127"/>
            <a:ext cx="872265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Observations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clear linear relationship between duration and minimum stipend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internships</a:t>
            </a:r>
            <a:r>
              <a:rPr lang="en-US" sz="2800" dirty="0"/>
              <a:t> cluster at fixed durations like 4, 8, 12, 16, 24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stipend varies widely at every duration level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duration alone does not determine pay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277138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5870B31-DF00-035A-6847-CE592C878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459" y="44554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&lt;Figure size 600x500 with 0 Axes&gt;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7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5BE9386A-CE2A-CC20-7702-34942F1A9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38" y="1120589"/>
            <a:ext cx="10983124" cy="506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0AC120-E7E1-DDB0-151D-6E75C37846F1}"/>
              </a:ext>
            </a:extLst>
          </p:cNvPr>
          <p:cNvSpPr txBox="1"/>
          <p:nvPr/>
        </p:nvSpPr>
        <p:spPr>
          <a:xfrm>
            <a:off x="729944" y="672455"/>
            <a:ext cx="87756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Stipend Min by Actively Hiring</a:t>
            </a:r>
          </a:p>
        </p:txBody>
      </p:sp>
    </p:spTree>
    <p:extLst>
      <p:ext uri="{BB962C8B-B14F-4D97-AF65-F5344CB8AC3E}">
        <p14:creationId xmlns:p14="http://schemas.microsoft.com/office/powerpoint/2010/main" val="36875234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D2557B-226F-DB7A-1D41-3649EAF03925}"/>
              </a:ext>
            </a:extLst>
          </p:cNvPr>
          <p:cNvSpPr txBox="1"/>
          <p:nvPr/>
        </p:nvSpPr>
        <p:spPr>
          <a:xfrm>
            <a:off x="914399" y="823770"/>
            <a:ext cx="9278471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Why Boxplot</a:t>
            </a:r>
          </a:p>
          <a:p>
            <a:pPr algn="just"/>
            <a:endParaRPr lang="en-US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Boxplot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800" dirty="0"/>
              <a:t> used to compare distribution of a numerical variable across categories.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It helps understand if actively hiring internships offer better stipends.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813381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37261A-D68B-EEA1-E920-AFDEEB861B6E}"/>
              </a:ext>
            </a:extLst>
          </p:cNvPr>
          <p:cNvSpPr txBox="1"/>
          <p:nvPr/>
        </p:nvSpPr>
        <p:spPr>
          <a:xfrm>
            <a:off x="636221" y="868449"/>
            <a:ext cx="9134763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both actively hiring and non actively hiring internships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sz="2800" dirty="0"/>
              <a:t> similar median stipend around ₹6000-₹8000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spread is similar for both groups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actively hiring status has no significant impact on stipend offered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548267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38E6E2-ECDB-86ED-0FF7-138F455EC5E6}"/>
              </a:ext>
            </a:extLst>
          </p:cNvPr>
          <p:cNvSpPr txBox="1"/>
          <p:nvPr/>
        </p:nvSpPr>
        <p:spPr>
          <a:xfrm>
            <a:off x="179293" y="451229"/>
            <a:ext cx="1106244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-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Stipend Min and Max by IT vs Non-IT</a:t>
            </a:r>
          </a:p>
          <a:p>
            <a:endParaRPr lang="en-I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4877719-E1BD-3017-E8E6-EA482B7BA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6" y="1550893"/>
            <a:ext cx="10775576" cy="452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8614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46E4FF-A7FF-5999-7578-72CB90F8E0FA}"/>
              </a:ext>
            </a:extLst>
          </p:cNvPr>
          <p:cNvSpPr txBox="1"/>
          <p:nvPr/>
        </p:nvSpPr>
        <p:spPr>
          <a:xfrm>
            <a:off x="744070" y="689789"/>
            <a:ext cx="8758517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Grouped Bar Chart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Grouped bar chart is used to compare multiple numerical values across categories side by side.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US" sz="2800" dirty="0"/>
              <a:t> compare both minimum and maximum stipend between IT and Non-IT internships.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718073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540EEE-C6A2-918E-BBD5-FA8145ED42F9}"/>
              </a:ext>
            </a:extLst>
          </p:cNvPr>
          <p:cNvSpPr txBox="1"/>
          <p:nvPr/>
        </p:nvSpPr>
        <p:spPr>
          <a:xfrm>
            <a:off x="519952" y="781906"/>
            <a:ext cx="1021976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Observations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internships offer slightly higher minimum and maximum stipend than Non-IT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difference is not dramatic — average minimum is ₹7400 IT vs ₹7200 Non-IT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maximum stipend gap is larger — IT reaches ₹11700 vs Non-IT ₹11100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roles have a wider pay range overall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64354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80C259-635B-D8F8-89CD-84273EB1B9CA}"/>
              </a:ext>
            </a:extLst>
          </p:cNvPr>
          <p:cNvSpPr txBox="1"/>
          <p:nvPr/>
        </p:nvSpPr>
        <p:spPr>
          <a:xfrm>
            <a:off x="672352" y="621558"/>
            <a:ext cx="90633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Violin Plot: Stipend Min by Duration Weeks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CEE63AF-EB42-01AE-2E4B-83A43D27B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1299882"/>
            <a:ext cx="11325225" cy="473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971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4AF72D-DB6A-F9C1-2962-0FE7264B4BFF}"/>
              </a:ext>
            </a:extLst>
          </p:cNvPr>
          <p:cNvSpPr txBox="1"/>
          <p:nvPr/>
        </p:nvSpPr>
        <p:spPr>
          <a:xfrm>
            <a:off x="744071" y="791163"/>
            <a:ext cx="937708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Why Violin Plot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Violin plot combines boxplot and distribution plot — shows both spread and shape of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US" sz="2800" dirty="0"/>
              <a:t> compare stipend distribution across the most common internship durations.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914644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396FAC-486B-C735-F4BC-A3585C8B2D51}"/>
              </a:ext>
            </a:extLst>
          </p:cNvPr>
          <p:cNvSpPr txBox="1"/>
          <p:nvPr/>
        </p:nvSpPr>
        <p:spPr>
          <a:xfrm>
            <a:off x="555810" y="880663"/>
            <a:ext cx="1044388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Observations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 durations show similar median stipend around ₹5000-₹8000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16 and 24 week internships show wider distribution — more variety in pay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4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lang="en-US" sz="2800" dirty="0"/>
              <a:t> internships are narrower at the bottom — fewer high paying short internships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duration does not strongly determine stipend amount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484571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DF41-2FBC-2CAF-5BFB-D70B0ABD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B999A-DE02-D335-3D78-5069B6421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531"/>
            <a:ext cx="10515600" cy="4351338"/>
          </a:xfrm>
        </p:spPr>
        <p:txBody>
          <a:bodyPr/>
          <a:lstStyle/>
          <a:p>
            <a:r>
              <a:rPr lang="en-US" dirty="0"/>
              <a:t>Used Matplotlib to create:</a:t>
            </a:r>
          </a:p>
          <a:p>
            <a:r>
              <a:rPr lang="en-US" dirty="0"/>
              <a:t>Bar charts </a:t>
            </a:r>
          </a:p>
          <a:p>
            <a:r>
              <a:rPr lang="en-US" dirty="0"/>
              <a:t>Pie charts </a:t>
            </a:r>
          </a:p>
          <a:p>
            <a:r>
              <a:rPr lang="en-US" dirty="0"/>
              <a:t>Histograms </a:t>
            </a:r>
          </a:p>
          <a:p>
            <a:r>
              <a:rPr lang="en-US" dirty="0"/>
              <a:t>These visualizations help in better understanding of data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2620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55D4-E43C-4C78-733D-B862F814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Data Visualization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E54E9-352E-D69E-5FF7-0CB2939F2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953" y="1583578"/>
            <a:ext cx="10515600" cy="4351338"/>
          </a:xfrm>
        </p:spPr>
        <p:txBody>
          <a:bodyPr/>
          <a:lstStyle/>
          <a:p>
            <a:r>
              <a:rPr lang="en-US" dirty="0"/>
              <a:t>Various visualization techniques are used in this project, including bar charts, histograms, and count plots. </a:t>
            </a:r>
          </a:p>
          <a:p>
            <a:r>
              <a:rPr lang="en-US" dirty="0"/>
              <a:t>These visualizations make it easier to understand patterns and trends in the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2301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A21A-8EC3-2C19-BEF9-FCD325B0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17" y="589243"/>
            <a:ext cx="10515600" cy="1325563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sz="3200" b="1" dirty="0"/>
              <a:t>Pivot Table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FFB3E0-547F-703E-DE9A-7FDBCE6B0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1635" y="1475535"/>
            <a:ext cx="10515600" cy="4351338"/>
          </a:xfrm>
        </p:spPr>
        <p:txBody>
          <a:bodyPr/>
          <a:lstStyle/>
          <a:p>
            <a:r>
              <a:rPr lang="en-US" dirty="0"/>
              <a:t>Pivot table summarizes data by grouping two categorical/discrete variables and calculating aggregate values.</a:t>
            </a:r>
          </a:p>
          <a:p>
            <a:r>
              <a:rPr lang="en-US" dirty="0"/>
              <a:t>It helps compare average minimum stipend across duration and IT vs Non-IT simultaneously.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8802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56603-D6C7-A8AB-D308-74E7CCDD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84A4C-CB8C-AC27-7EFF-278F9FE63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65648"/>
            <a:ext cx="10515600" cy="4351338"/>
          </a:xfrm>
        </p:spPr>
        <p:txBody>
          <a:bodyPr/>
          <a:lstStyle/>
          <a:p>
            <a:r>
              <a:rPr lang="en-US" dirty="0"/>
              <a:t>IT internships consistently pay higher than Non-IT across all durations</a:t>
            </a:r>
          </a:p>
          <a:p>
            <a:r>
              <a:rPr lang="en-US" dirty="0"/>
              <a:t>longer durations generally show slightly higher stipend for IT roles</a:t>
            </a:r>
          </a:p>
          <a:p>
            <a:r>
              <a:rPr lang="en-US" dirty="0"/>
              <a:t>Non-IT stipend remains relatively flat regardless of duration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183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8A72-FF7D-0DF3-DD07-85624AA8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Pivot Table Heatmap</a:t>
            </a:r>
            <a:br>
              <a:rPr lang="en-IN" dirty="0"/>
            </a:br>
            <a:endParaRPr lang="en-IN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8BF95A7E-146B-79C7-E408-A4A1A29AA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83" y="1200727"/>
            <a:ext cx="10427854" cy="499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3819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F60B79-8570-E4C3-CB0F-5A6FBD707D8E}"/>
              </a:ext>
            </a:extLst>
          </p:cNvPr>
          <p:cNvSpPr txBox="1"/>
          <p:nvPr/>
        </p:nvSpPr>
        <p:spPr>
          <a:xfrm>
            <a:off x="591670" y="880954"/>
            <a:ext cx="967291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Why Heatmap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US" sz="2800" dirty="0"/>
              <a:t> gives a </a:t>
            </a:r>
            <a:r>
              <a:rPr lang="en-US" sz="2800" dirty="0" err="1"/>
              <a:t>colour</a:t>
            </a:r>
            <a:r>
              <a:rPr lang="en-US" sz="2800" dirty="0"/>
              <a:t> coded visual of the pivot table — easier to spot patterns than reading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Darker </a:t>
            </a:r>
            <a:r>
              <a:rPr lang="en-US" sz="2800" dirty="0" err="1"/>
              <a:t>colour</a:t>
            </a:r>
            <a:r>
              <a:rPr lang="en-US" sz="2800" dirty="0"/>
              <a:t> means higher stipend value.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142930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306A-021C-6EA9-CEE7-EE2F2A45A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242"/>
            <a:ext cx="10515600" cy="1325563"/>
          </a:xfrm>
        </p:spPr>
        <p:txBody>
          <a:bodyPr/>
          <a:lstStyle/>
          <a:p>
            <a:r>
              <a:rPr lang="en-US" sz="3200" b="1" dirty="0"/>
              <a:t>Observations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C6E2A-1E5E-E9D4-E8C2-995DA0748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483" y="1432625"/>
            <a:ext cx="10515600" cy="4351338"/>
          </a:xfrm>
        </p:spPr>
        <p:txBody>
          <a:bodyPr/>
          <a:lstStyle/>
          <a:p>
            <a:r>
              <a:rPr lang="en-US" dirty="0"/>
              <a:t>IT internships at 24 weeks show highest average minimum stipend of ₹8305</a:t>
            </a:r>
          </a:p>
          <a:p>
            <a:r>
              <a:rPr lang="en-US" dirty="0"/>
              <a:t>Non-IT at 5 weeks shows unusually high ₹9000 — likely very few listings skewing the average</a:t>
            </a:r>
          </a:p>
          <a:p>
            <a:r>
              <a:rPr lang="en-US" dirty="0"/>
              <a:t>IT internships are consistently darker (higher pay) than Non-IT at longer durations</a:t>
            </a:r>
          </a:p>
          <a:p>
            <a:r>
              <a:rPr lang="en-US" dirty="0"/>
              <a:t>1, 2, 3 week internships are lightest — lowest paying regardless of IT or Non-IT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79614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5E58-3088-B093-D0CA-70395FE5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1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BA11A0-BF2D-98FE-D470-FA542EE89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8517" y="1613118"/>
            <a:ext cx="1151357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From the analysis, several key insights are observed: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Certain cities offer higher stipends compared to others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Technical skills are associated with better pay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Internship duration has an impact on stipend levels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2182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54F3-DF3C-DC56-B3E6-0BFED7E7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6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CHALLENGES FACED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0DBCE9-BD24-963A-021C-01356797A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03929"/>
            <a:ext cx="851319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structure changes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messy text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Extracting correct HTML elements </a:t>
            </a:r>
          </a:p>
        </p:txBody>
      </p:sp>
    </p:spTree>
    <p:extLst>
      <p:ext uri="{BB962C8B-B14F-4D97-AF65-F5344CB8AC3E}">
        <p14:creationId xmlns:p14="http://schemas.microsoft.com/office/powerpoint/2010/main" val="26331981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87DE-D682-AD68-D219-5614CA6B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07B65-04D9-F114-3CAC-D549D2AE2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3930"/>
            <a:ext cx="10515600" cy="4351338"/>
          </a:xfrm>
        </p:spPr>
        <p:txBody>
          <a:bodyPr/>
          <a:lstStyle/>
          <a:p>
            <a:r>
              <a:rPr lang="en-US" dirty="0"/>
              <a:t>In this project, we successfully collected real-world internship data using web scraping techniques. </a:t>
            </a:r>
          </a:p>
          <a:p>
            <a:r>
              <a:rPr lang="en-US" dirty="0"/>
              <a:t>The dataset was cleaned and analyzed using exploratory data analysis methods. </a:t>
            </a:r>
          </a:p>
          <a:p>
            <a:r>
              <a:rPr lang="en-US" dirty="0"/>
              <a:t>Meaningful insights were derived regarding stipend trends, locations, and skills. </a:t>
            </a:r>
          </a:p>
          <a:p>
            <a:r>
              <a:rPr lang="en-US" dirty="0"/>
              <a:t>This project demonstrates the practical application of data analysis in solving real-world problems.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973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3439</Words>
  <Application>Microsoft Office PowerPoint</Application>
  <PresentationFormat>Widescreen</PresentationFormat>
  <Paragraphs>438</Paragraphs>
  <Slides>79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5" baseType="lpstr">
      <vt:lpstr>Times New Roman</vt:lpstr>
      <vt:lpstr>Libre Baskerville</vt:lpstr>
      <vt:lpstr>Calibri</vt:lpstr>
      <vt:lpstr>Arial Unicode MS</vt:lpstr>
      <vt:lpstr>Arial</vt:lpstr>
      <vt:lpstr>Office Theme</vt:lpstr>
      <vt:lpstr>PowerPoint Presentation</vt:lpstr>
      <vt:lpstr>INTRODUCTION  In today’s digital world, data plays a crucial role in decision-making and trend analysis.  This project focuses on collecting real-time internship data from the Internshala platform using web scraping techniques.  Since the data is not available in a structured format, web scraping is used to extract relevant information from the website.  The collected data is then cleaned, processed, and analyzed using Python libraries.</vt:lpstr>
      <vt:lpstr>PowerPoint Presentation</vt:lpstr>
      <vt:lpstr>PROJECT OVERVIEW</vt:lpstr>
      <vt:lpstr>PowerPoint Presentation</vt:lpstr>
      <vt:lpstr>OBJECTIVE OF THE PROJECT</vt:lpstr>
      <vt:lpstr>DATA SOURCE</vt:lpstr>
      <vt:lpstr>PowerPoint Presentation</vt:lpstr>
      <vt:lpstr>TOOLS AND TECHNOLOGIES USED</vt:lpstr>
      <vt:lpstr>Importing Required Libraries</vt:lpstr>
      <vt:lpstr>What is Web Scraping</vt:lpstr>
      <vt:lpstr>WEB SCRAPING PROCESS</vt:lpstr>
      <vt:lpstr>Extract data such as</vt:lpstr>
      <vt:lpstr>Understanding HTML Structure</vt:lpstr>
      <vt:lpstr>Parsing HTML Content</vt:lpstr>
      <vt:lpstr>Extracting Internship Cards</vt:lpstr>
      <vt:lpstr>Extracting Internship Title</vt:lpstr>
      <vt:lpstr>Extracting Company Name</vt:lpstr>
      <vt:lpstr>Extracting Location</vt:lpstr>
      <vt:lpstr>Extracting Stipend</vt:lpstr>
      <vt:lpstr>PowerPoint Presentation</vt:lpstr>
      <vt:lpstr>Extracting Duration</vt:lpstr>
      <vt:lpstr>Handling Missing Data During Scraping</vt:lpstr>
      <vt:lpstr>Storing Extracted Data</vt:lpstr>
      <vt:lpstr>Scraping Multiple Pages</vt:lpstr>
      <vt:lpstr>DATASET CREATION</vt:lpstr>
      <vt:lpstr>PowerPoint Presentation</vt:lpstr>
      <vt:lpstr>DATASET FEATURES</vt:lpstr>
      <vt:lpstr>EDA SECTION</vt:lpstr>
      <vt:lpstr>Loading the Dataset</vt:lpstr>
      <vt:lpstr>preview of first 5 rows </vt:lpstr>
      <vt:lpstr>Preview of last 5 rows </vt:lpstr>
      <vt:lpstr>Understanding Dataset Structure</vt:lpstr>
      <vt:lpstr>Checking Data Types</vt:lpstr>
      <vt:lpstr>Handling Missing Values</vt:lpstr>
      <vt:lpstr>Data Cleaning</vt:lpstr>
      <vt:lpstr>Feature Engineering</vt:lpstr>
      <vt:lpstr> Outlier Detection &amp; Treatment </vt:lpstr>
      <vt:lpstr>Why this plot was used Boxplots were used to identify extreme values in selected numerical variables.  Observations stipend_min has outliers going up to ₹70,000 — way above normal range stipend_max has outliers going up to ₹80,000 — even higher extreme values duration has outliers at 48, 96 and 144 weeks (1-3 years) — unrealistic for internships most data sits below ₹20,000 for stipend and below 24 weeks for duration IQR method will be used to remove these extreme values </vt:lpstr>
      <vt:lpstr>EXPLORATORY DATA ANALYSIS (EDA)</vt:lpstr>
      <vt:lpstr>Univariate Analysis – Stipend</vt:lpstr>
      <vt:lpstr>PowerPoint Presentation</vt:lpstr>
      <vt:lpstr>Why Histogram  Histogram is used to show the frequency distribution of a continuous numerical variable. It helps understand how minimum stipend values are spread across all internships.     </vt:lpstr>
      <vt:lpstr>PowerPoint Presentation</vt:lpstr>
      <vt:lpstr>Univariate Analysis – Duration</vt:lpstr>
      <vt:lpstr>Top 10 Internship Titles by Count </vt:lpstr>
      <vt:lpstr>Why Bar Chart </vt:lpstr>
      <vt:lpstr>Observations </vt:lpstr>
      <vt:lpstr>Pie Chart: IT vs Non-IT Distribution </vt:lpstr>
      <vt:lpstr>Why Pie Chart </vt:lpstr>
      <vt:lpstr>Observations </vt:lpstr>
      <vt:lpstr>Bivariate Analysis – Stipend vs Location</vt:lpstr>
      <vt:lpstr>PowerPoint Presentation</vt:lpstr>
      <vt:lpstr>PowerPoint Presentation</vt:lpstr>
      <vt:lpstr>PowerPoint Presentation</vt:lpstr>
      <vt:lpstr>Bivariate Analysis – Stipend vs Duration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VISUALIZATION</vt:lpstr>
      <vt:lpstr>Data Visualization Techniques</vt:lpstr>
      <vt:lpstr> Pivot Table </vt:lpstr>
      <vt:lpstr>Observations</vt:lpstr>
      <vt:lpstr>Pivot Table Heatmap </vt:lpstr>
      <vt:lpstr>PowerPoint Presentation</vt:lpstr>
      <vt:lpstr>Observations </vt:lpstr>
      <vt:lpstr>KEY INSIGHTS</vt:lpstr>
      <vt:lpstr>CHALLENGES FACED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Arjun Naluvala</cp:lastModifiedBy>
  <cp:revision>13</cp:revision>
  <dcterms:created xsi:type="dcterms:W3CDTF">2021-02-16T05:19:01Z</dcterms:created>
  <dcterms:modified xsi:type="dcterms:W3CDTF">2026-05-11T20:18:37Z</dcterms:modified>
</cp:coreProperties>
</file>